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FCAF1-3B25-0699-E810-ADCAD7D97D33}" v="851" dt="2026-10-20T18:26:16.4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ED33BB-71AC-4776-B2E9-838D87204180}" type="datetimeFigureOut">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C514B6-04E9-4B7F-A353-69F6B28A429C}" type="slidenum">
              <a:t>‹#›</a:t>
            </a:fld>
            <a:endParaRPr lang="en-US"/>
          </a:p>
        </p:txBody>
      </p:sp>
    </p:spTree>
    <p:extLst>
      <p:ext uri="{BB962C8B-B14F-4D97-AF65-F5344CB8AC3E}">
        <p14:creationId xmlns:p14="http://schemas.microsoft.com/office/powerpoint/2010/main" val="2964070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has two main parts: build a pipeline that generates and runs paper-based implementations and compares them with author implementations; then repeat the experiment across the 30 supplied papers and analyze success/failure patterns by research topic and method type. The summary report should distinguish agent failures from reference implementation and infrastructure failures. This is the full project objective, not a claim that the current forecasting prototype supports every topic.</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diagram is a conceptual summary, not a detailed infrastructure diagram. Reference execution and agent execution are independent paths; parallel placement does not imply simultaneous execution. The agent receives the paper, dataset, shared specification, and power prompt, without author code or reference results. Both implementations run in isolated environments. Compare using task-appropriate metrics and record method deviations. The current prototype supports forecasting, so other data science tasks will need corresponding wrappers and evaluation criteria. The repeated outcomes and execution logs feed the cross-paper analysis.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Confirmed team: Anna, Adelaide, Owen, and Arut. Confirmed meeting cadence: every two weeks with the Unilever project lead, with a deliverable at each meeting. Assignments in this table are proposed, not confirmed. No overall deadline or start date has been specified, so the table intentionally does not invent dates or a fixed project duration. The 30-paper campaign should be distributed across the team, with completed results, issues, and the next deliverable reviewed at each fortnightly checkpoint.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14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3400" y="342900"/>
            <a:ext cx="10795000" cy="254000"/>
          </a:xfrm>
          <a:prstGeom prst="rect">
            <a:avLst/>
          </a:prstGeom>
          <a:noFill/>
        </p:spPr>
        <p:txBody>
          <a:bodyPr wrap="square" lIns="0" tIns="0" rIns="0" bIns="0">
            <a:spAutoFit/>
          </a:bodyPr>
          <a:lstStyle/>
          <a:p>
            <a:pPr>
              <a:lnSpc>
                <a:spcPct val="115000"/>
              </a:lnSpc>
              <a:spcBef>
                <a:spcPts val="0"/>
              </a:spcBef>
              <a:spcAft>
                <a:spcPts val="0"/>
              </a:spcAft>
              <a:defRPr sz="1100" b="1">
                <a:solidFill>
                  <a:srgbClr val="007E80"/>
                </a:solidFill>
                <a:latin typeface="Arial"/>
              </a:defRPr>
            </a:pPr>
            <a:r>
              <a:t>THE PROJECT</a:t>
            </a:r>
          </a:p>
        </p:txBody>
      </p:sp>
      <p:sp>
        <p:nvSpPr>
          <p:cNvPr id="4" name="TextBox 3"/>
          <p:cNvSpPr txBox="1"/>
          <p:nvPr/>
        </p:nvSpPr>
        <p:spPr>
          <a:xfrm>
            <a:off x="533400" y="825500"/>
            <a:ext cx="11176000" cy="485710"/>
          </a:xfrm>
          <a:prstGeom prst="rect">
            <a:avLst/>
          </a:prstGeom>
          <a:noFill/>
        </p:spPr>
        <p:txBody>
          <a:bodyPr wrap="square" lIns="0" tIns="0" rIns="0" bIns="0" anchor="t">
            <a:spAutoFit/>
          </a:bodyPr>
          <a:lstStyle/>
          <a:p>
            <a:pPr>
              <a:lnSpc>
                <a:spcPct val="115000"/>
              </a:lnSpc>
              <a:defRPr sz="3000" b="1">
                <a:solidFill>
                  <a:srgbClr val="102B36"/>
                </a:solidFill>
                <a:latin typeface="Arial"/>
              </a:defRPr>
            </a:pPr>
            <a:r>
              <a:rPr dirty="0"/>
              <a:t>How well can </a:t>
            </a:r>
            <a:r>
              <a:rPr lang="en-US" dirty="0"/>
              <a:t>AI agents reproduce</a:t>
            </a:r>
            <a:r>
              <a:rPr dirty="0"/>
              <a:t> research</a:t>
            </a:r>
            <a:r>
              <a:rPr lang="en-US"/>
              <a:t> paper methods</a:t>
            </a:r>
            <a:r>
              <a:rPr dirty="0"/>
              <a:t>?</a:t>
            </a:r>
          </a:p>
        </p:txBody>
      </p:sp>
      <p:sp>
        <p:nvSpPr>
          <p:cNvPr id="5" name="TextBox 4"/>
          <p:cNvSpPr txBox="1"/>
          <p:nvPr/>
        </p:nvSpPr>
        <p:spPr>
          <a:xfrm>
            <a:off x="533400" y="1549400"/>
            <a:ext cx="11112500" cy="259045"/>
          </a:xfrm>
          <a:prstGeom prst="rect">
            <a:avLst/>
          </a:prstGeom>
          <a:noFill/>
        </p:spPr>
        <p:txBody>
          <a:bodyPr wrap="square" lIns="0" tIns="0" rIns="0" bIns="0">
            <a:spAutoFit/>
          </a:bodyPr>
          <a:lstStyle/>
          <a:p>
            <a:pPr>
              <a:lnSpc>
                <a:spcPct val="115000"/>
              </a:lnSpc>
              <a:spcBef>
                <a:spcPts val="0"/>
              </a:spcBef>
              <a:spcAft>
                <a:spcPts val="0"/>
              </a:spcAft>
              <a:defRPr sz="1500" b="0">
                <a:solidFill>
                  <a:srgbClr val="52656C"/>
                </a:solidFill>
                <a:latin typeface="Arial"/>
              </a:defRPr>
            </a:pPr>
            <a:r>
              <a:rPr sz="1600"/>
              <a:t>30 papers across different data science topics, each with an implementation on GitHub.</a:t>
            </a:r>
          </a:p>
        </p:txBody>
      </p:sp>
      <p:sp>
        <p:nvSpPr>
          <p:cNvPr id="6" name="TextBox 5"/>
          <p:cNvSpPr txBox="1"/>
          <p:nvPr/>
        </p:nvSpPr>
        <p:spPr>
          <a:xfrm>
            <a:off x="533400" y="6438900"/>
            <a:ext cx="10668000" cy="228600"/>
          </a:xfrm>
          <a:prstGeom prst="rect">
            <a:avLst/>
          </a:prstGeom>
          <a:noFill/>
        </p:spPr>
        <p:txBody>
          <a:bodyPr wrap="square" lIns="0" tIns="0" rIns="0" bIns="0">
            <a:spAutoFit/>
          </a:bodyPr>
          <a:lstStyle/>
          <a:p>
            <a:pPr>
              <a:lnSpc>
                <a:spcPct val="115000"/>
              </a:lnSpc>
              <a:spcBef>
                <a:spcPts val="0"/>
              </a:spcBef>
              <a:spcAft>
                <a:spcPts val="0"/>
              </a:spcAft>
              <a:defRPr sz="900" b="0">
                <a:solidFill>
                  <a:srgbClr val="52656C"/>
                </a:solidFill>
                <a:latin typeface="Arial"/>
              </a:defRPr>
            </a:pPr>
            <a:r>
              <a:t>FORGE  /  UNILEVER PROJECT</a:t>
            </a:r>
          </a:p>
        </p:txBody>
      </p:sp>
      <p:sp>
        <p:nvSpPr>
          <p:cNvPr id="7" name="TextBox 6"/>
          <p:cNvSpPr txBox="1"/>
          <p:nvPr/>
        </p:nvSpPr>
        <p:spPr>
          <a:xfrm>
            <a:off x="11328400" y="6413500"/>
            <a:ext cx="444500" cy="266700"/>
          </a:xfrm>
          <a:prstGeom prst="rect">
            <a:avLst/>
          </a:prstGeom>
          <a:noFill/>
        </p:spPr>
        <p:txBody>
          <a:bodyPr wrap="square" lIns="0" tIns="0" rIns="0" bIns="0">
            <a:spAutoFit/>
          </a:bodyPr>
          <a:lstStyle/>
          <a:p>
            <a:pPr>
              <a:lnSpc>
                <a:spcPct val="115000"/>
              </a:lnSpc>
              <a:spcBef>
                <a:spcPts val="0"/>
              </a:spcBef>
              <a:spcAft>
                <a:spcPts val="0"/>
              </a:spcAft>
              <a:defRPr sz="1200" b="1">
                <a:solidFill>
                  <a:srgbClr val="007E80"/>
                </a:solidFill>
                <a:latin typeface="Arial"/>
              </a:defRPr>
            </a:pPr>
            <a:r>
              <a:t>01</a:t>
            </a:r>
          </a:p>
        </p:txBody>
      </p:sp>
      <p:sp>
        <p:nvSpPr>
          <p:cNvPr id="8" name="Rectangle 7"/>
          <p:cNvSpPr/>
          <p:nvPr/>
        </p:nvSpPr>
        <p:spPr>
          <a:xfrm>
            <a:off x="533400" y="2461700"/>
            <a:ext cx="11119200" cy="12136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6800" y="2586900"/>
            <a:ext cx="10541000" cy="178126"/>
          </a:xfrm>
          <a:prstGeom prst="rect">
            <a:avLst/>
          </a:prstGeom>
          <a:noFill/>
        </p:spPr>
        <p:txBody>
          <a:bodyPr wrap="square" lIns="0" tIns="0" rIns="0" bIns="0" anchor="t">
            <a:spAutoFit/>
          </a:bodyPr>
          <a:lstStyle/>
          <a:p>
            <a:pPr>
              <a:lnSpc>
                <a:spcPct val="115000"/>
              </a:lnSpc>
              <a:defRPr sz="1100" b="1">
                <a:solidFill>
                  <a:srgbClr val="BCECE0"/>
                </a:solidFill>
                <a:latin typeface="Arial"/>
              </a:defRPr>
            </a:pPr>
            <a:r>
              <a:t>OUR </a:t>
            </a:r>
            <a:r>
              <a:rPr lang="en-US"/>
              <a:t>TASK</a:t>
            </a:r>
            <a:endParaRPr/>
          </a:p>
        </p:txBody>
      </p:sp>
      <p:sp>
        <p:nvSpPr>
          <p:cNvPr id="10" name="TextBox 9"/>
          <p:cNvSpPr txBox="1"/>
          <p:nvPr/>
        </p:nvSpPr>
        <p:spPr>
          <a:xfrm>
            <a:off x="776800" y="2842600"/>
            <a:ext cx="10541000" cy="677814"/>
          </a:xfrm>
          <a:prstGeom prst="rect">
            <a:avLst/>
          </a:prstGeom>
          <a:noFill/>
        </p:spPr>
        <p:txBody>
          <a:bodyPr wrap="square" lIns="0" tIns="0" rIns="0" bIns="0" anchor="t">
            <a:spAutoFit/>
          </a:bodyPr>
          <a:lstStyle/>
          <a:p>
            <a:pPr>
              <a:lnSpc>
                <a:spcPct val="115000"/>
              </a:lnSpc>
              <a:defRPr sz="2100" b="1">
                <a:solidFill>
                  <a:srgbClr val="FFFFFF"/>
                </a:solidFill>
                <a:latin typeface="Arial"/>
              </a:defRPr>
            </a:pPr>
            <a:r>
              <a:rPr sz="2000" dirty="0"/>
              <a:t>Evaluate how well an AI agent </a:t>
            </a:r>
            <a:r>
              <a:rPr lang="en-US" sz="2000" dirty="0"/>
              <a:t>can reproduce the main methods of a paper, especially where it fails and where </a:t>
            </a:r>
            <a:r>
              <a:rPr lang="en-US" sz="2000" err="1"/>
              <a:t>humen</a:t>
            </a:r>
            <a:r>
              <a:rPr lang="en-US" sz="2000"/>
              <a:t> intervention is needed.</a:t>
            </a:r>
            <a:endParaRPr lang="en-US" sz="2000" dirty="0">
              <a:cs typeface="Arial"/>
            </a:endParaRPr>
          </a:p>
        </p:txBody>
      </p:sp>
      <p:sp>
        <p:nvSpPr>
          <p:cNvPr id="11" name="Rectangle 10"/>
          <p:cNvSpPr/>
          <p:nvPr/>
        </p:nvSpPr>
        <p:spPr>
          <a:xfrm>
            <a:off x="533400" y="3937000"/>
            <a:ext cx="5422900" cy="191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4700" y="4165600"/>
            <a:ext cx="571500" cy="381000"/>
          </a:xfrm>
          <a:prstGeom prst="rect">
            <a:avLst/>
          </a:prstGeom>
          <a:noFill/>
        </p:spPr>
        <p:txBody>
          <a:bodyPr wrap="square" lIns="0" tIns="0" rIns="0" bIns="0">
            <a:spAutoFit/>
          </a:bodyPr>
          <a:lstStyle/>
          <a:p>
            <a:pPr>
              <a:lnSpc>
                <a:spcPct val="115000"/>
              </a:lnSpc>
              <a:spcBef>
                <a:spcPts val="0"/>
              </a:spcBef>
              <a:spcAft>
                <a:spcPts val="0"/>
              </a:spcAft>
              <a:defRPr sz="2200" b="1">
                <a:solidFill>
                  <a:srgbClr val="007E80"/>
                </a:solidFill>
                <a:latin typeface="Arial"/>
              </a:defRPr>
            </a:pPr>
            <a:r>
              <a:t>01</a:t>
            </a:r>
          </a:p>
        </p:txBody>
      </p:sp>
      <p:sp>
        <p:nvSpPr>
          <p:cNvPr id="13" name="TextBox 12"/>
          <p:cNvSpPr txBox="1"/>
          <p:nvPr/>
        </p:nvSpPr>
        <p:spPr>
          <a:xfrm>
            <a:off x="774700" y="4699000"/>
            <a:ext cx="4953000" cy="368300"/>
          </a:xfrm>
          <a:prstGeom prst="rect">
            <a:avLst/>
          </a:prstGeom>
          <a:noFill/>
        </p:spPr>
        <p:txBody>
          <a:bodyPr wrap="square" lIns="0" tIns="0" rIns="0" bIns="0">
            <a:spAutoFit/>
          </a:bodyPr>
          <a:lstStyle/>
          <a:p>
            <a:pPr>
              <a:lnSpc>
                <a:spcPct val="115000"/>
              </a:lnSpc>
              <a:spcBef>
                <a:spcPts val="0"/>
              </a:spcBef>
              <a:spcAft>
                <a:spcPts val="0"/>
              </a:spcAft>
              <a:defRPr sz="2100" b="1">
                <a:solidFill>
                  <a:srgbClr val="102B36"/>
                </a:solidFill>
                <a:latin typeface="Arial"/>
              </a:defRPr>
            </a:pPr>
            <a:r>
              <a:t>Build the pipeline</a:t>
            </a:r>
          </a:p>
        </p:txBody>
      </p:sp>
      <p:sp>
        <p:nvSpPr>
          <p:cNvPr id="14" name="TextBox 13"/>
          <p:cNvSpPr txBox="1"/>
          <p:nvPr/>
        </p:nvSpPr>
        <p:spPr>
          <a:xfrm>
            <a:off x="774700" y="5219700"/>
            <a:ext cx="4953000" cy="546100"/>
          </a:xfrm>
          <a:prstGeom prst="rect">
            <a:avLst/>
          </a:prstGeom>
          <a:noFill/>
        </p:spPr>
        <p:txBody>
          <a:bodyPr wrap="square" lIns="0" tIns="0" rIns="0" bIns="0">
            <a:spAutoFit/>
          </a:bodyPr>
          <a:lstStyle/>
          <a:p>
            <a:pPr>
              <a:lnSpc>
                <a:spcPct val="115000"/>
              </a:lnSpc>
              <a:spcBef>
                <a:spcPts val="0"/>
              </a:spcBef>
              <a:spcAft>
                <a:spcPts val="0"/>
              </a:spcAft>
              <a:defRPr sz="1400" b="0">
                <a:solidFill>
                  <a:srgbClr val="52656C"/>
                </a:solidFill>
                <a:latin typeface="Arial"/>
              </a:defRPr>
            </a:pPr>
            <a:r>
              <a:t>Turn a paper into code, run it, and compare</a:t>
            </a:r>
          </a:p>
          <a:p>
            <a:pPr>
              <a:lnSpc>
                <a:spcPct val="115000"/>
              </a:lnSpc>
              <a:spcBef>
                <a:spcPts val="0"/>
              </a:spcBef>
              <a:spcAft>
                <a:spcPts val="0"/>
              </a:spcAft>
              <a:defRPr sz="1400" b="0">
                <a:solidFill>
                  <a:srgbClr val="52656C"/>
                </a:solidFill>
                <a:latin typeface="Arial"/>
              </a:defRPr>
            </a:pPr>
            <a:r>
              <a:t>the results with the authors' implementation.</a:t>
            </a:r>
          </a:p>
        </p:txBody>
      </p:sp>
      <p:sp>
        <p:nvSpPr>
          <p:cNvPr id="15" name="Rectangle 14"/>
          <p:cNvSpPr/>
          <p:nvPr/>
        </p:nvSpPr>
        <p:spPr>
          <a:xfrm>
            <a:off x="6235700" y="3937000"/>
            <a:ext cx="5422900" cy="191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77000" y="4165600"/>
            <a:ext cx="571500" cy="381000"/>
          </a:xfrm>
          <a:prstGeom prst="rect">
            <a:avLst/>
          </a:prstGeom>
          <a:noFill/>
        </p:spPr>
        <p:txBody>
          <a:bodyPr wrap="square" lIns="0" tIns="0" rIns="0" bIns="0">
            <a:spAutoFit/>
          </a:bodyPr>
          <a:lstStyle/>
          <a:p>
            <a:pPr>
              <a:lnSpc>
                <a:spcPct val="115000"/>
              </a:lnSpc>
              <a:spcBef>
                <a:spcPts val="0"/>
              </a:spcBef>
              <a:spcAft>
                <a:spcPts val="0"/>
              </a:spcAft>
              <a:defRPr sz="2200" b="1">
                <a:solidFill>
                  <a:srgbClr val="007E80"/>
                </a:solidFill>
                <a:latin typeface="Arial"/>
              </a:defRPr>
            </a:pPr>
            <a:r>
              <a:t>02</a:t>
            </a:r>
          </a:p>
        </p:txBody>
      </p:sp>
      <p:sp>
        <p:nvSpPr>
          <p:cNvPr id="17" name="TextBox 16"/>
          <p:cNvSpPr txBox="1"/>
          <p:nvPr/>
        </p:nvSpPr>
        <p:spPr>
          <a:xfrm>
            <a:off x="6477000" y="4699000"/>
            <a:ext cx="4953000" cy="368300"/>
          </a:xfrm>
          <a:prstGeom prst="rect">
            <a:avLst/>
          </a:prstGeom>
          <a:noFill/>
        </p:spPr>
        <p:txBody>
          <a:bodyPr wrap="square" lIns="0" tIns="0" rIns="0" bIns="0">
            <a:spAutoFit/>
          </a:bodyPr>
          <a:lstStyle/>
          <a:p>
            <a:pPr>
              <a:lnSpc>
                <a:spcPct val="115000"/>
              </a:lnSpc>
              <a:spcBef>
                <a:spcPts val="0"/>
              </a:spcBef>
              <a:spcAft>
                <a:spcPts val="0"/>
              </a:spcAft>
              <a:defRPr sz="2100" b="1">
                <a:solidFill>
                  <a:srgbClr val="102B36"/>
                </a:solidFill>
                <a:latin typeface="Arial"/>
              </a:defRPr>
            </a:pPr>
            <a:r>
              <a:t>Analyze the 30-paper study</a:t>
            </a:r>
          </a:p>
        </p:txBody>
      </p:sp>
      <p:sp>
        <p:nvSpPr>
          <p:cNvPr id="18" name="TextBox 17"/>
          <p:cNvSpPr txBox="1"/>
          <p:nvPr/>
        </p:nvSpPr>
        <p:spPr>
          <a:xfrm>
            <a:off x="6477000" y="5219700"/>
            <a:ext cx="4953000" cy="546100"/>
          </a:xfrm>
          <a:prstGeom prst="rect">
            <a:avLst/>
          </a:prstGeom>
          <a:noFill/>
        </p:spPr>
        <p:txBody>
          <a:bodyPr wrap="square" lIns="0" tIns="0" rIns="0" bIns="0">
            <a:spAutoFit/>
          </a:bodyPr>
          <a:lstStyle/>
          <a:p>
            <a:pPr>
              <a:lnSpc>
                <a:spcPct val="115000"/>
              </a:lnSpc>
              <a:spcBef>
                <a:spcPts val="0"/>
              </a:spcBef>
              <a:spcAft>
                <a:spcPts val="0"/>
              </a:spcAft>
              <a:defRPr sz="1400" b="0">
                <a:solidFill>
                  <a:srgbClr val="52656C"/>
                </a:solidFill>
                <a:latin typeface="Arial"/>
              </a:defRPr>
            </a:pPr>
            <a:r>
              <a:t>Identify success and failure patterns across</a:t>
            </a:r>
          </a:p>
          <a:p>
            <a:pPr>
              <a:lnSpc>
                <a:spcPct val="115000"/>
              </a:lnSpc>
              <a:spcBef>
                <a:spcPts val="0"/>
              </a:spcBef>
              <a:spcAft>
                <a:spcPts val="0"/>
              </a:spcAft>
              <a:defRPr sz="1400" b="0">
                <a:solidFill>
                  <a:srgbClr val="52656C"/>
                </a:solidFill>
                <a:latin typeface="Arial"/>
              </a:defRPr>
            </a:pPr>
            <a:r>
              <a:t>paper types and produce a summary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C4E7BE48-69D7-BC3D-9A2F-ED8C1B517C72}"/>
              </a:ext>
            </a:extLst>
          </p:cNvPr>
          <p:cNvSpPr/>
          <p:nvPr/>
        </p:nvSpPr>
        <p:spPr>
          <a:xfrm>
            <a:off x="2946499" y="4225500"/>
            <a:ext cx="3306100" cy="1513300"/>
          </a:xfrm>
          <a:prstGeom prst="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a:p>
        </p:txBody>
      </p:sp>
      <p:sp>
        <p:nvSpPr>
          <p:cNvPr id="36" name="Rectangle 35">
            <a:extLst>
              <a:ext uri="{FF2B5EF4-FFF2-40B4-BE49-F238E27FC236}">
                <a16:creationId xmlns:a16="http://schemas.microsoft.com/office/drawing/2014/main" id="{41E1F250-82A9-F54D-DD08-F4D38E45405D}"/>
              </a:ext>
            </a:extLst>
          </p:cNvPr>
          <p:cNvSpPr/>
          <p:nvPr/>
        </p:nvSpPr>
        <p:spPr>
          <a:xfrm>
            <a:off x="2952499" y="2683500"/>
            <a:ext cx="3306100" cy="1279300"/>
          </a:xfrm>
          <a:prstGeom prst="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a:p>
        </p:txBody>
      </p:sp>
      <p:sp>
        <p:nvSpPr>
          <p:cNvPr id="2" name="Rectangle 1"/>
          <p:cNvSpPr/>
          <p:nvPr/>
        </p:nvSpPr>
        <p:spPr>
          <a:xfrm>
            <a:off x="0" y="0"/>
            <a:ext cx="12192000" cy="114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3400" y="342900"/>
            <a:ext cx="10795000" cy="254000"/>
          </a:xfrm>
          <a:prstGeom prst="rect">
            <a:avLst/>
          </a:prstGeom>
          <a:noFill/>
        </p:spPr>
        <p:txBody>
          <a:bodyPr wrap="square" lIns="0" tIns="0" rIns="0" bIns="0">
            <a:spAutoFit/>
          </a:bodyPr>
          <a:lstStyle/>
          <a:p>
            <a:pPr>
              <a:lnSpc>
                <a:spcPct val="115000"/>
              </a:lnSpc>
              <a:spcBef>
                <a:spcPts val="0"/>
              </a:spcBef>
              <a:spcAft>
                <a:spcPts val="0"/>
              </a:spcAft>
              <a:defRPr sz="1100" b="1">
                <a:solidFill>
                  <a:srgbClr val="007E80"/>
                </a:solidFill>
                <a:latin typeface="Arial"/>
              </a:defRPr>
            </a:pPr>
            <a:r>
              <a:t>THE PIPELINE</a:t>
            </a:r>
          </a:p>
        </p:txBody>
      </p:sp>
      <p:sp>
        <p:nvSpPr>
          <p:cNvPr id="4" name="TextBox 3"/>
          <p:cNvSpPr txBox="1"/>
          <p:nvPr/>
        </p:nvSpPr>
        <p:spPr>
          <a:xfrm>
            <a:off x="533400" y="825500"/>
            <a:ext cx="11176000" cy="673100"/>
          </a:xfrm>
          <a:prstGeom prst="rect">
            <a:avLst/>
          </a:prstGeom>
          <a:noFill/>
        </p:spPr>
        <p:txBody>
          <a:bodyPr wrap="square" lIns="0" tIns="0" rIns="0" bIns="0">
            <a:spAutoFit/>
          </a:bodyPr>
          <a:lstStyle/>
          <a:p>
            <a:pPr>
              <a:lnSpc>
                <a:spcPct val="115000"/>
              </a:lnSpc>
              <a:spcBef>
                <a:spcPts val="0"/>
              </a:spcBef>
              <a:spcAft>
                <a:spcPts val="0"/>
              </a:spcAft>
              <a:defRPr sz="3000" b="1">
                <a:solidFill>
                  <a:srgbClr val="102B36"/>
                </a:solidFill>
                <a:latin typeface="Arial"/>
              </a:defRPr>
            </a:pPr>
            <a:r>
              <a:t>From paper to code to comparison</a:t>
            </a:r>
          </a:p>
        </p:txBody>
      </p:sp>
      <p:sp>
        <p:nvSpPr>
          <p:cNvPr id="5" name="TextBox 4"/>
          <p:cNvSpPr txBox="1"/>
          <p:nvPr/>
        </p:nvSpPr>
        <p:spPr>
          <a:xfrm>
            <a:off x="533400" y="1549400"/>
            <a:ext cx="11112500" cy="584200"/>
          </a:xfrm>
          <a:prstGeom prst="rect">
            <a:avLst/>
          </a:prstGeom>
          <a:noFill/>
        </p:spPr>
        <p:txBody>
          <a:bodyPr wrap="square" lIns="0" tIns="0" rIns="0" bIns="0">
            <a:spAutoFit/>
          </a:bodyPr>
          <a:lstStyle/>
          <a:p>
            <a:pPr>
              <a:lnSpc>
                <a:spcPct val="115000"/>
              </a:lnSpc>
              <a:spcBef>
                <a:spcPts val="0"/>
              </a:spcBef>
              <a:spcAft>
                <a:spcPts val="0"/>
              </a:spcAft>
              <a:defRPr sz="1500" b="0">
                <a:solidFill>
                  <a:srgbClr val="52656C"/>
                </a:solidFill>
                <a:latin typeface="Arial"/>
              </a:defRPr>
            </a:pPr>
            <a:r>
              <a:t>A short view of the process, repeated for each paper.</a:t>
            </a:r>
          </a:p>
        </p:txBody>
      </p:sp>
      <p:sp>
        <p:nvSpPr>
          <p:cNvPr id="6" name="TextBox 5"/>
          <p:cNvSpPr txBox="1"/>
          <p:nvPr/>
        </p:nvSpPr>
        <p:spPr>
          <a:xfrm>
            <a:off x="533400" y="6438900"/>
            <a:ext cx="10668000" cy="228600"/>
          </a:xfrm>
          <a:prstGeom prst="rect">
            <a:avLst/>
          </a:prstGeom>
          <a:noFill/>
        </p:spPr>
        <p:txBody>
          <a:bodyPr wrap="square" lIns="0" tIns="0" rIns="0" bIns="0">
            <a:spAutoFit/>
          </a:bodyPr>
          <a:lstStyle/>
          <a:p>
            <a:pPr>
              <a:lnSpc>
                <a:spcPct val="115000"/>
              </a:lnSpc>
              <a:spcBef>
                <a:spcPts val="0"/>
              </a:spcBef>
              <a:spcAft>
                <a:spcPts val="0"/>
              </a:spcAft>
              <a:defRPr sz="900" b="0">
                <a:solidFill>
                  <a:srgbClr val="52656C"/>
                </a:solidFill>
                <a:latin typeface="Arial"/>
              </a:defRPr>
            </a:pPr>
            <a:r>
              <a:t>FORGE  /  UNILEVER PROJECT</a:t>
            </a:r>
          </a:p>
        </p:txBody>
      </p:sp>
      <p:sp>
        <p:nvSpPr>
          <p:cNvPr id="7" name="TextBox 6"/>
          <p:cNvSpPr txBox="1"/>
          <p:nvPr/>
        </p:nvSpPr>
        <p:spPr>
          <a:xfrm>
            <a:off x="11328400" y="6413500"/>
            <a:ext cx="444500" cy="266700"/>
          </a:xfrm>
          <a:prstGeom prst="rect">
            <a:avLst/>
          </a:prstGeom>
          <a:noFill/>
        </p:spPr>
        <p:txBody>
          <a:bodyPr wrap="square" lIns="0" tIns="0" rIns="0" bIns="0">
            <a:spAutoFit/>
          </a:bodyPr>
          <a:lstStyle/>
          <a:p>
            <a:pPr>
              <a:lnSpc>
                <a:spcPct val="115000"/>
              </a:lnSpc>
              <a:spcBef>
                <a:spcPts val="0"/>
              </a:spcBef>
              <a:spcAft>
                <a:spcPts val="0"/>
              </a:spcAft>
              <a:defRPr sz="1200" b="1">
                <a:solidFill>
                  <a:srgbClr val="007E80"/>
                </a:solidFill>
                <a:latin typeface="Arial"/>
              </a:defRPr>
            </a:pPr>
            <a:r>
              <a:t>02</a:t>
            </a:r>
          </a:p>
        </p:txBody>
      </p:sp>
      <p:sp>
        <p:nvSpPr>
          <p:cNvPr id="8" name="Rectangle 7"/>
          <p:cNvSpPr/>
          <p:nvPr/>
        </p:nvSpPr>
        <p:spPr>
          <a:xfrm>
            <a:off x="533400" y="2053100"/>
            <a:ext cx="11125200" cy="482600"/>
          </a:xfrm>
          <a:prstGeom prst="rect">
            <a:avLst/>
          </a:prstGeom>
          <a:solidFill>
            <a:srgbClr val="E8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300" y="2180100"/>
            <a:ext cx="10668000" cy="210507"/>
          </a:xfrm>
          <a:prstGeom prst="rect">
            <a:avLst/>
          </a:prstGeom>
          <a:noFill/>
        </p:spPr>
        <p:txBody>
          <a:bodyPr wrap="square" lIns="0" tIns="0" rIns="0" bIns="0" anchor="t">
            <a:spAutoFit/>
          </a:bodyPr>
          <a:lstStyle/>
          <a:p>
            <a:pPr>
              <a:lnSpc>
                <a:spcPct val="115000"/>
              </a:lnSpc>
              <a:defRPr sz="1300" b="1">
                <a:solidFill>
                  <a:srgbClr val="007E80"/>
                </a:solidFill>
                <a:latin typeface="Arial"/>
              </a:defRPr>
            </a:pPr>
            <a:r>
              <a:t>SHARED EXPERIMENT SETTINGS</a:t>
            </a:r>
            <a:r>
              <a:rPr lang="en-US"/>
              <a:t>  </a:t>
            </a:r>
            <a:r>
              <a:t>/  dataset, evaluation criteria and compute budget</a:t>
            </a:r>
          </a:p>
        </p:txBody>
      </p:sp>
      <p:cxnSp>
        <p:nvCxnSpPr>
          <p:cNvPr id="10" name="Connector 9"/>
          <p:cNvCxnSpPr/>
          <p:nvPr/>
        </p:nvCxnSpPr>
        <p:spPr>
          <a:xfrm>
            <a:off x="2679700" y="3160100"/>
            <a:ext cx="533400" cy="0"/>
          </a:xfrm>
          <a:prstGeom prst="line">
            <a:avLst/>
          </a:prstGeom>
          <a:ln w="25400">
            <a:solidFill>
              <a:srgbClr val="007E8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679700" y="4927600"/>
            <a:ext cx="533400" cy="0"/>
          </a:xfrm>
          <a:prstGeom prst="line">
            <a:avLst/>
          </a:prstGeom>
          <a:ln w="25400">
            <a:solidFill>
              <a:srgbClr val="007E8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57900" y="3316100"/>
            <a:ext cx="736600" cy="622300"/>
          </a:xfrm>
          <a:prstGeom prst="line">
            <a:avLst/>
          </a:prstGeom>
          <a:ln w="25400">
            <a:solidFill>
              <a:srgbClr val="007E8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057900" y="4241800"/>
            <a:ext cx="736600" cy="685800"/>
          </a:xfrm>
          <a:prstGeom prst="line">
            <a:avLst/>
          </a:prstGeom>
          <a:ln w="25400">
            <a:solidFill>
              <a:srgbClr val="007E8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029700" y="4114800"/>
            <a:ext cx="558800" cy="0"/>
          </a:xfrm>
          <a:prstGeom prst="line">
            <a:avLst/>
          </a:prstGeom>
          <a:ln w="25400">
            <a:solidFill>
              <a:srgbClr val="007E8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33400" y="2868800"/>
            <a:ext cx="2146300" cy="943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8500" y="2985900"/>
            <a:ext cx="1816100" cy="330200"/>
          </a:xfrm>
          <a:prstGeom prst="rect">
            <a:avLst/>
          </a:prstGeom>
          <a:noFill/>
        </p:spPr>
        <p:txBody>
          <a:bodyPr wrap="square" lIns="0" tIns="0" rIns="0" bIns="0">
            <a:spAutoFit/>
          </a:bodyPr>
          <a:lstStyle/>
          <a:p>
            <a:pPr>
              <a:lnSpc>
                <a:spcPct val="115000"/>
              </a:lnSpc>
              <a:spcBef>
                <a:spcPts val="0"/>
              </a:spcBef>
              <a:spcAft>
                <a:spcPts val="0"/>
              </a:spcAft>
              <a:defRPr sz="1700" b="1">
                <a:solidFill>
                  <a:srgbClr val="102B36"/>
                </a:solidFill>
                <a:latin typeface="Arial"/>
              </a:defRPr>
            </a:pPr>
            <a:r>
              <a:t>GitHub repo</a:t>
            </a:r>
          </a:p>
        </p:txBody>
      </p:sp>
      <p:sp>
        <p:nvSpPr>
          <p:cNvPr id="17" name="TextBox 16"/>
          <p:cNvSpPr txBox="1"/>
          <p:nvPr/>
        </p:nvSpPr>
        <p:spPr>
          <a:xfrm>
            <a:off x="698500" y="3392300"/>
            <a:ext cx="1816100" cy="381000"/>
          </a:xfrm>
          <a:prstGeom prst="rect">
            <a:avLst/>
          </a:prstGeom>
          <a:noFill/>
        </p:spPr>
        <p:txBody>
          <a:bodyPr wrap="square" lIns="0" tIns="0" rIns="0" bIns="0">
            <a:spAutoFit/>
          </a:bodyPr>
          <a:lstStyle/>
          <a:p>
            <a:pPr>
              <a:lnSpc>
                <a:spcPct val="115000"/>
              </a:lnSpc>
              <a:spcBef>
                <a:spcPts val="0"/>
              </a:spcBef>
              <a:spcAft>
                <a:spcPts val="0"/>
              </a:spcAft>
              <a:defRPr sz="1200" b="0">
                <a:solidFill>
                  <a:srgbClr val="52656C"/>
                </a:solidFill>
                <a:latin typeface="Arial"/>
              </a:defRPr>
            </a:pPr>
            <a:r>
              <a:t>Authors' implementation</a:t>
            </a:r>
          </a:p>
        </p:txBody>
      </p:sp>
      <p:sp>
        <p:nvSpPr>
          <p:cNvPr id="18" name="Rectangle 17"/>
          <p:cNvSpPr/>
          <p:nvPr/>
        </p:nvSpPr>
        <p:spPr>
          <a:xfrm>
            <a:off x="3231100" y="2868800"/>
            <a:ext cx="2826800" cy="595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4200" y="3015900"/>
            <a:ext cx="2514600" cy="330200"/>
          </a:xfrm>
          <a:prstGeom prst="rect">
            <a:avLst/>
          </a:prstGeom>
          <a:noFill/>
        </p:spPr>
        <p:txBody>
          <a:bodyPr wrap="square" lIns="0" tIns="0" rIns="0" bIns="0">
            <a:spAutoFit/>
          </a:bodyPr>
          <a:lstStyle/>
          <a:p>
            <a:pPr>
              <a:lnSpc>
                <a:spcPct val="115000"/>
              </a:lnSpc>
              <a:spcBef>
                <a:spcPts val="0"/>
              </a:spcBef>
              <a:spcAft>
                <a:spcPts val="0"/>
              </a:spcAft>
              <a:defRPr sz="1700" b="1">
                <a:solidFill>
                  <a:srgbClr val="102B36"/>
                </a:solidFill>
                <a:latin typeface="Arial"/>
              </a:defRPr>
            </a:pPr>
            <a:r>
              <a:t>Run reference code</a:t>
            </a:r>
          </a:p>
        </p:txBody>
      </p:sp>
      <p:sp>
        <p:nvSpPr>
          <p:cNvPr id="21" name="Rectangle 20"/>
          <p:cNvSpPr/>
          <p:nvPr/>
        </p:nvSpPr>
        <p:spPr>
          <a:xfrm>
            <a:off x="533400" y="4432300"/>
            <a:ext cx="2146300" cy="1003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8500" y="4597400"/>
            <a:ext cx="1816100" cy="330200"/>
          </a:xfrm>
          <a:prstGeom prst="rect">
            <a:avLst/>
          </a:prstGeom>
          <a:noFill/>
        </p:spPr>
        <p:txBody>
          <a:bodyPr wrap="square" lIns="0" tIns="0" rIns="0" bIns="0">
            <a:spAutoFit/>
          </a:bodyPr>
          <a:lstStyle/>
          <a:p>
            <a:pPr>
              <a:lnSpc>
                <a:spcPct val="115000"/>
              </a:lnSpc>
              <a:spcBef>
                <a:spcPts val="0"/>
              </a:spcBef>
              <a:spcAft>
                <a:spcPts val="0"/>
              </a:spcAft>
              <a:defRPr sz="1700" b="1">
                <a:solidFill>
                  <a:srgbClr val="102B36"/>
                </a:solidFill>
                <a:latin typeface="Arial"/>
              </a:defRPr>
            </a:pPr>
            <a:r>
              <a:t>Research paper</a:t>
            </a:r>
          </a:p>
        </p:txBody>
      </p:sp>
      <p:sp>
        <p:nvSpPr>
          <p:cNvPr id="23" name="TextBox 22"/>
          <p:cNvSpPr txBox="1"/>
          <p:nvPr/>
        </p:nvSpPr>
        <p:spPr>
          <a:xfrm>
            <a:off x="698500" y="5003800"/>
            <a:ext cx="1816100" cy="381000"/>
          </a:xfrm>
          <a:prstGeom prst="rect">
            <a:avLst/>
          </a:prstGeom>
          <a:noFill/>
        </p:spPr>
        <p:txBody>
          <a:bodyPr wrap="square" lIns="0" tIns="0" rIns="0" bIns="0">
            <a:spAutoFit/>
          </a:bodyPr>
          <a:lstStyle/>
          <a:p>
            <a:pPr>
              <a:lnSpc>
                <a:spcPct val="115000"/>
              </a:lnSpc>
              <a:spcBef>
                <a:spcPts val="0"/>
              </a:spcBef>
              <a:spcAft>
                <a:spcPts val="0"/>
              </a:spcAft>
              <a:defRPr sz="1200" b="0">
                <a:solidFill>
                  <a:srgbClr val="52656C"/>
                </a:solidFill>
                <a:latin typeface="Arial"/>
              </a:defRPr>
            </a:pPr>
            <a:r>
              <a:t>Main method to reproduce</a:t>
            </a:r>
          </a:p>
        </p:txBody>
      </p:sp>
      <p:sp>
        <p:nvSpPr>
          <p:cNvPr id="24" name="Rectangle 23"/>
          <p:cNvSpPr/>
          <p:nvPr/>
        </p:nvSpPr>
        <p:spPr>
          <a:xfrm>
            <a:off x="3219100" y="4420300"/>
            <a:ext cx="2832800" cy="79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78200" y="4561400"/>
            <a:ext cx="2514600" cy="330200"/>
          </a:xfrm>
          <a:prstGeom prst="rect">
            <a:avLst/>
          </a:prstGeom>
          <a:noFill/>
        </p:spPr>
        <p:txBody>
          <a:bodyPr wrap="square" lIns="0" tIns="0" rIns="0" bIns="0">
            <a:spAutoFit/>
          </a:bodyPr>
          <a:lstStyle/>
          <a:p>
            <a:pPr>
              <a:lnSpc>
                <a:spcPct val="115000"/>
              </a:lnSpc>
              <a:spcBef>
                <a:spcPts val="0"/>
              </a:spcBef>
              <a:spcAft>
                <a:spcPts val="0"/>
              </a:spcAft>
              <a:defRPr sz="1700" b="1">
                <a:solidFill>
                  <a:srgbClr val="102B36"/>
                </a:solidFill>
                <a:latin typeface="Arial"/>
              </a:defRPr>
            </a:pPr>
            <a:r>
              <a:t>Agent codes &amp; runs</a:t>
            </a:r>
          </a:p>
        </p:txBody>
      </p:sp>
      <p:sp>
        <p:nvSpPr>
          <p:cNvPr id="26" name="TextBox 25"/>
          <p:cNvSpPr txBox="1"/>
          <p:nvPr/>
        </p:nvSpPr>
        <p:spPr>
          <a:xfrm>
            <a:off x="3378200" y="4907800"/>
            <a:ext cx="2514600" cy="194349"/>
          </a:xfrm>
          <a:prstGeom prst="rect">
            <a:avLst/>
          </a:prstGeom>
          <a:noFill/>
        </p:spPr>
        <p:txBody>
          <a:bodyPr wrap="square" lIns="0" tIns="0" rIns="0" bIns="0" anchor="t">
            <a:spAutoFit/>
          </a:bodyPr>
          <a:lstStyle/>
          <a:p>
            <a:pPr>
              <a:lnSpc>
                <a:spcPct val="115000"/>
              </a:lnSpc>
              <a:defRPr sz="1200" b="0">
                <a:solidFill>
                  <a:srgbClr val="52656C"/>
                </a:solidFill>
                <a:latin typeface="Arial"/>
              </a:defRPr>
            </a:pPr>
            <a:r>
              <a:t>Paper</a:t>
            </a:r>
            <a:r>
              <a:rPr lang="en-US"/>
              <a:t> + dataset + master prompt</a:t>
            </a:r>
            <a:endParaRPr dirty="0"/>
          </a:p>
        </p:txBody>
      </p:sp>
      <p:sp>
        <p:nvSpPr>
          <p:cNvPr id="27" name="Rectangle 26"/>
          <p:cNvSpPr/>
          <p:nvPr/>
        </p:nvSpPr>
        <p:spPr>
          <a:xfrm>
            <a:off x="6794500" y="3619500"/>
            <a:ext cx="2235200" cy="1003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59600" y="3784600"/>
            <a:ext cx="1905000" cy="330200"/>
          </a:xfrm>
          <a:prstGeom prst="rect">
            <a:avLst/>
          </a:prstGeom>
          <a:noFill/>
        </p:spPr>
        <p:txBody>
          <a:bodyPr wrap="square" lIns="0" tIns="0" rIns="0" bIns="0">
            <a:spAutoFit/>
          </a:bodyPr>
          <a:lstStyle/>
          <a:p>
            <a:pPr>
              <a:lnSpc>
                <a:spcPct val="115000"/>
              </a:lnSpc>
              <a:spcBef>
                <a:spcPts val="0"/>
              </a:spcBef>
              <a:spcAft>
                <a:spcPts val="0"/>
              </a:spcAft>
              <a:defRPr sz="1700" b="1">
                <a:solidFill>
                  <a:srgbClr val="102B36"/>
                </a:solidFill>
                <a:latin typeface="Arial"/>
              </a:defRPr>
            </a:pPr>
            <a:r>
              <a:t>Compare results</a:t>
            </a:r>
          </a:p>
        </p:txBody>
      </p:sp>
      <p:sp>
        <p:nvSpPr>
          <p:cNvPr id="29" name="TextBox 28"/>
          <p:cNvSpPr txBox="1"/>
          <p:nvPr/>
        </p:nvSpPr>
        <p:spPr>
          <a:xfrm>
            <a:off x="6959600" y="4191000"/>
            <a:ext cx="1905000" cy="381000"/>
          </a:xfrm>
          <a:prstGeom prst="rect">
            <a:avLst/>
          </a:prstGeom>
          <a:noFill/>
        </p:spPr>
        <p:txBody>
          <a:bodyPr wrap="square" lIns="0" tIns="0" rIns="0" bIns="0">
            <a:spAutoFit/>
          </a:bodyPr>
          <a:lstStyle/>
          <a:p>
            <a:pPr>
              <a:lnSpc>
                <a:spcPct val="115000"/>
              </a:lnSpc>
              <a:spcBef>
                <a:spcPts val="0"/>
              </a:spcBef>
              <a:spcAft>
                <a:spcPts val="0"/>
              </a:spcAft>
              <a:defRPr sz="1200" b="0">
                <a:solidFill>
                  <a:srgbClr val="52656C"/>
                </a:solidFill>
                <a:latin typeface="Arial"/>
              </a:defRPr>
            </a:pPr>
            <a:r>
              <a:t>Shared evaluation</a:t>
            </a:r>
          </a:p>
        </p:txBody>
      </p:sp>
      <p:sp>
        <p:nvSpPr>
          <p:cNvPr id="30" name="Rectangle 29"/>
          <p:cNvSpPr/>
          <p:nvPr/>
        </p:nvSpPr>
        <p:spPr>
          <a:xfrm>
            <a:off x="9588500" y="3619500"/>
            <a:ext cx="2070100" cy="1003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53600" y="3784600"/>
            <a:ext cx="1739900" cy="330200"/>
          </a:xfrm>
          <a:prstGeom prst="rect">
            <a:avLst/>
          </a:prstGeom>
          <a:noFill/>
        </p:spPr>
        <p:txBody>
          <a:bodyPr wrap="square" lIns="0" tIns="0" rIns="0" bIns="0">
            <a:spAutoFit/>
          </a:bodyPr>
          <a:lstStyle/>
          <a:p>
            <a:pPr>
              <a:lnSpc>
                <a:spcPct val="115000"/>
              </a:lnSpc>
              <a:spcBef>
                <a:spcPts val="0"/>
              </a:spcBef>
              <a:spcAft>
                <a:spcPts val="0"/>
              </a:spcAft>
              <a:defRPr sz="1700" b="1">
                <a:solidFill>
                  <a:srgbClr val="FFFFFF"/>
                </a:solidFill>
                <a:latin typeface="Arial"/>
              </a:defRPr>
            </a:pPr>
            <a:r>
              <a:t>Outcomes</a:t>
            </a:r>
          </a:p>
        </p:txBody>
      </p:sp>
      <p:sp>
        <p:nvSpPr>
          <p:cNvPr id="32" name="TextBox 31"/>
          <p:cNvSpPr txBox="1"/>
          <p:nvPr/>
        </p:nvSpPr>
        <p:spPr>
          <a:xfrm>
            <a:off x="9753600" y="4191000"/>
            <a:ext cx="1739900" cy="381000"/>
          </a:xfrm>
          <a:prstGeom prst="rect">
            <a:avLst/>
          </a:prstGeom>
          <a:noFill/>
        </p:spPr>
        <p:txBody>
          <a:bodyPr wrap="square" lIns="0" tIns="0" rIns="0" bIns="0">
            <a:spAutoFit/>
          </a:bodyPr>
          <a:lstStyle/>
          <a:p>
            <a:pPr>
              <a:lnSpc>
                <a:spcPct val="115000"/>
              </a:lnSpc>
              <a:spcBef>
                <a:spcPts val="0"/>
              </a:spcBef>
              <a:spcAft>
                <a:spcPts val="0"/>
              </a:spcAft>
              <a:defRPr sz="1200" b="0">
                <a:solidFill>
                  <a:srgbClr val="FFFFFF"/>
                </a:solidFill>
                <a:latin typeface="Arial"/>
              </a:defRPr>
            </a:pPr>
            <a:r>
              <a:t>Successes &amp; failures</a:t>
            </a:r>
          </a:p>
        </p:txBody>
      </p:sp>
      <p:sp>
        <p:nvSpPr>
          <p:cNvPr id="33" name="Rectangle 32"/>
          <p:cNvSpPr/>
          <p:nvPr/>
        </p:nvSpPr>
        <p:spPr>
          <a:xfrm>
            <a:off x="2921400" y="5842400"/>
            <a:ext cx="3313200" cy="611800"/>
          </a:xfrm>
          <a:prstGeom prst="rect">
            <a:avLst/>
          </a:prstGeom>
          <a:solidFill>
            <a:srgbClr val="E8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130600" y="5926700"/>
            <a:ext cx="3080800" cy="440570"/>
          </a:xfrm>
          <a:prstGeom prst="rect">
            <a:avLst/>
          </a:prstGeom>
          <a:noFill/>
        </p:spPr>
        <p:txBody>
          <a:bodyPr wrap="square" lIns="0" tIns="0" rIns="0" bIns="0">
            <a:spAutoFit/>
          </a:bodyPr>
          <a:lstStyle/>
          <a:p>
            <a:pPr>
              <a:lnSpc>
                <a:spcPct val="115000"/>
              </a:lnSpc>
              <a:spcBef>
                <a:spcPts val="0"/>
              </a:spcBef>
              <a:spcAft>
                <a:spcPts val="0"/>
              </a:spcAft>
              <a:defRPr sz="1300" b="1">
                <a:solidFill>
                  <a:srgbClr val="007E80"/>
                </a:solidFill>
                <a:latin typeface="Arial"/>
              </a:defRPr>
            </a:pPr>
            <a:r>
              <a:t>LOG THROUGHOUT  /  agent actions, errors, fixes and unresolved issues</a:t>
            </a:r>
          </a:p>
        </p:txBody>
      </p:sp>
      <p:sp>
        <p:nvSpPr>
          <p:cNvPr id="41" name="TextBox 40">
            <a:extLst>
              <a:ext uri="{FF2B5EF4-FFF2-40B4-BE49-F238E27FC236}">
                <a16:creationId xmlns:a16="http://schemas.microsoft.com/office/drawing/2014/main" id="{26C19E0A-C2CC-A291-6191-AF451F512171}"/>
              </a:ext>
            </a:extLst>
          </p:cNvPr>
          <p:cNvSpPr txBox="1"/>
          <p:nvPr/>
        </p:nvSpPr>
        <p:spPr>
          <a:xfrm>
            <a:off x="3348199" y="3561900"/>
            <a:ext cx="2514600" cy="275268"/>
          </a:xfrm>
          <a:prstGeom prst="rect">
            <a:avLst/>
          </a:prstGeom>
          <a:noFill/>
        </p:spPr>
        <p:txBody>
          <a:bodyPr wrap="square" lIns="0" tIns="0" rIns="0" bIns="0" anchor="t">
            <a:spAutoFit/>
          </a:bodyPr>
          <a:lstStyle/>
          <a:p>
            <a:pPr>
              <a:lnSpc>
                <a:spcPct val="115000"/>
              </a:lnSpc>
              <a:spcBef>
                <a:spcPts val="0"/>
              </a:spcBef>
              <a:spcAft>
                <a:spcPts val="0"/>
              </a:spcAft>
              <a:defRPr sz="1700" b="1">
                <a:solidFill>
                  <a:srgbClr val="102B36"/>
                </a:solidFill>
                <a:latin typeface="Arial"/>
              </a:defRPr>
            </a:pPr>
            <a:r>
              <a:rPr lang="en-US">
                <a:solidFill>
                  <a:schemeClr val="accent5">
                    <a:lumMod val="76000"/>
                  </a:schemeClr>
                </a:solidFill>
                <a:cs typeface="Arial"/>
              </a:rPr>
              <a:t>Sandbox</a:t>
            </a:r>
          </a:p>
        </p:txBody>
      </p:sp>
      <p:sp>
        <p:nvSpPr>
          <p:cNvPr id="42" name="TextBox 41">
            <a:extLst>
              <a:ext uri="{FF2B5EF4-FFF2-40B4-BE49-F238E27FC236}">
                <a16:creationId xmlns:a16="http://schemas.microsoft.com/office/drawing/2014/main" id="{14AD2A9F-30A9-4D91-5550-70C04A5536A3}"/>
              </a:ext>
            </a:extLst>
          </p:cNvPr>
          <p:cNvSpPr txBox="1"/>
          <p:nvPr/>
        </p:nvSpPr>
        <p:spPr>
          <a:xfrm>
            <a:off x="3384199" y="5343900"/>
            <a:ext cx="2514600" cy="275268"/>
          </a:xfrm>
          <a:prstGeom prst="rect">
            <a:avLst/>
          </a:prstGeom>
          <a:noFill/>
        </p:spPr>
        <p:txBody>
          <a:bodyPr wrap="square" lIns="0" tIns="0" rIns="0" bIns="0" anchor="t">
            <a:spAutoFit/>
          </a:bodyPr>
          <a:lstStyle/>
          <a:p>
            <a:pPr>
              <a:lnSpc>
                <a:spcPct val="115000"/>
              </a:lnSpc>
              <a:spcBef>
                <a:spcPts val="0"/>
              </a:spcBef>
              <a:spcAft>
                <a:spcPts val="0"/>
              </a:spcAft>
              <a:defRPr sz="1700" b="1">
                <a:solidFill>
                  <a:srgbClr val="102B36"/>
                </a:solidFill>
                <a:latin typeface="Arial"/>
              </a:defRPr>
            </a:pPr>
            <a:r>
              <a:rPr lang="en-US">
                <a:solidFill>
                  <a:schemeClr val="accent5">
                    <a:lumMod val="76000"/>
                  </a:schemeClr>
                </a:solidFill>
                <a:cs typeface="Arial"/>
              </a:rPr>
              <a:t>Sandbox</a:t>
            </a:r>
          </a:p>
        </p:txBody>
      </p:sp>
      <p:cxnSp>
        <p:nvCxnSpPr>
          <p:cNvPr id="44" name="Straight Arrow Connector 43">
            <a:extLst>
              <a:ext uri="{FF2B5EF4-FFF2-40B4-BE49-F238E27FC236}">
                <a16:creationId xmlns:a16="http://schemas.microsoft.com/office/drawing/2014/main" id="{37EA76D9-EB2F-556E-1B8B-84DB01E6F802}"/>
              </a:ext>
            </a:extLst>
          </p:cNvPr>
          <p:cNvCxnSpPr/>
          <p:nvPr/>
        </p:nvCxnSpPr>
        <p:spPr>
          <a:xfrm flipH="1">
            <a:off x="9211200" y="2689800"/>
            <a:ext cx="45600" cy="3224400"/>
          </a:xfrm>
          <a:prstGeom prst="straightConnector1">
            <a:avLst/>
          </a:prstGeom>
          <a:ln>
            <a:solidFill>
              <a:schemeClr val="accent5">
                <a:lumMod val="75000"/>
              </a:schemeClr>
            </a:solidFill>
            <a:prstDash val="dash"/>
          </a:ln>
        </p:spPr>
        <p:style>
          <a:lnRef idx="2">
            <a:schemeClr val="accent5"/>
          </a:lnRef>
          <a:fillRef idx="0">
            <a:schemeClr val="accent5"/>
          </a:fillRef>
          <a:effectRef idx="1">
            <a:schemeClr val="accent5"/>
          </a:effectRef>
          <a:fontRef idx="minor">
            <a:schemeClr val="tx1"/>
          </a:fontRef>
        </p:style>
      </p:cxnSp>
      <p:sp>
        <p:nvSpPr>
          <p:cNvPr id="45" name="TextBox 44">
            <a:extLst>
              <a:ext uri="{FF2B5EF4-FFF2-40B4-BE49-F238E27FC236}">
                <a16:creationId xmlns:a16="http://schemas.microsoft.com/office/drawing/2014/main" id="{9EED0037-6C5B-D5A4-2847-689E267C176B}"/>
              </a:ext>
            </a:extLst>
          </p:cNvPr>
          <p:cNvSpPr txBox="1"/>
          <p:nvPr/>
        </p:nvSpPr>
        <p:spPr>
          <a:xfrm>
            <a:off x="8338600" y="5998699"/>
            <a:ext cx="1940800" cy="664633"/>
          </a:xfrm>
          <a:prstGeom prst="rect">
            <a:avLst/>
          </a:prstGeom>
          <a:noFill/>
        </p:spPr>
        <p:txBody>
          <a:bodyPr wrap="square" lIns="0" tIns="0" rIns="0" bIns="0" anchor="t">
            <a:spAutoFit/>
          </a:bodyPr>
          <a:lstStyle/>
          <a:p>
            <a:pPr algn="ctr">
              <a:lnSpc>
                <a:spcPct val="115000"/>
              </a:lnSpc>
              <a:defRPr sz="1300" b="1">
                <a:solidFill>
                  <a:srgbClr val="007E80"/>
                </a:solidFill>
                <a:latin typeface="Arial"/>
              </a:defRPr>
            </a:pPr>
            <a:r>
              <a:rPr lang="en-US">
                <a:solidFill>
                  <a:srgbClr val="31859B"/>
                </a:solidFill>
                <a:cs typeface="Arial"/>
              </a:rPr>
              <a:t>Everything</a:t>
            </a:r>
            <a:r>
              <a:rPr lang="en-US" dirty="0">
                <a:solidFill>
                  <a:srgbClr val="31859B"/>
                </a:solidFill>
                <a:cs typeface="Arial"/>
              </a:rPr>
              <a:t> up until this point is automated</a:t>
            </a:r>
          </a:p>
          <a:p>
            <a:pPr algn="ctr">
              <a:lnSpc>
                <a:spcPct val="114999"/>
              </a:lnSpc>
              <a:defRPr sz="1300" b="1">
                <a:solidFill>
                  <a:srgbClr val="007E80"/>
                </a:solidFill>
                <a:latin typeface="Arial"/>
              </a:defRPr>
            </a:pPr>
            <a:endParaRPr lang="en-US" dirty="0">
              <a:solidFill>
                <a:srgbClr val="31859B"/>
              </a:solidFil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14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3400" y="342900"/>
            <a:ext cx="10795000" cy="254000"/>
          </a:xfrm>
          <a:prstGeom prst="rect">
            <a:avLst/>
          </a:prstGeom>
          <a:noFill/>
        </p:spPr>
        <p:txBody>
          <a:bodyPr wrap="square" lIns="0" tIns="0" rIns="0" bIns="0">
            <a:spAutoFit/>
          </a:bodyPr>
          <a:lstStyle/>
          <a:p>
            <a:pPr>
              <a:lnSpc>
                <a:spcPct val="115000"/>
              </a:lnSpc>
              <a:spcBef>
                <a:spcPts val="0"/>
              </a:spcBef>
              <a:spcAft>
                <a:spcPts val="0"/>
              </a:spcAft>
              <a:defRPr sz="1100" b="1">
                <a:solidFill>
                  <a:srgbClr val="007E80"/>
                </a:solidFill>
                <a:latin typeface="Arial"/>
              </a:defRPr>
            </a:pPr>
            <a:r>
              <a:t>TASK BREAKDOWN</a:t>
            </a:r>
          </a:p>
        </p:txBody>
      </p:sp>
      <p:sp>
        <p:nvSpPr>
          <p:cNvPr id="4" name="TextBox 3"/>
          <p:cNvSpPr txBox="1"/>
          <p:nvPr/>
        </p:nvSpPr>
        <p:spPr>
          <a:xfrm>
            <a:off x="533400" y="825500"/>
            <a:ext cx="11176000" cy="673100"/>
          </a:xfrm>
          <a:prstGeom prst="rect">
            <a:avLst/>
          </a:prstGeom>
          <a:noFill/>
        </p:spPr>
        <p:txBody>
          <a:bodyPr wrap="square" lIns="0" tIns="0" rIns="0" bIns="0">
            <a:spAutoFit/>
          </a:bodyPr>
          <a:lstStyle/>
          <a:p>
            <a:pPr>
              <a:lnSpc>
                <a:spcPct val="115000"/>
              </a:lnSpc>
              <a:spcBef>
                <a:spcPts val="0"/>
              </a:spcBef>
              <a:spcAft>
                <a:spcPts val="0"/>
              </a:spcAft>
              <a:defRPr sz="3000" b="1">
                <a:solidFill>
                  <a:srgbClr val="102B36"/>
                </a:solidFill>
                <a:latin typeface="Arial"/>
              </a:defRPr>
            </a:pPr>
            <a:r>
              <a:t>From a working pipeline to a 30-paper study</a:t>
            </a:r>
          </a:p>
        </p:txBody>
      </p:sp>
      <p:sp>
        <p:nvSpPr>
          <p:cNvPr id="6" name="TextBox 5"/>
          <p:cNvSpPr txBox="1"/>
          <p:nvPr/>
        </p:nvSpPr>
        <p:spPr>
          <a:xfrm>
            <a:off x="533400" y="6438900"/>
            <a:ext cx="10668000" cy="228600"/>
          </a:xfrm>
          <a:prstGeom prst="rect">
            <a:avLst/>
          </a:prstGeom>
          <a:noFill/>
        </p:spPr>
        <p:txBody>
          <a:bodyPr wrap="square" lIns="0" tIns="0" rIns="0" bIns="0">
            <a:spAutoFit/>
          </a:bodyPr>
          <a:lstStyle/>
          <a:p>
            <a:pPr>
              <a:lnSpc>
                <a:spcPct val="115000"/>
              </a:lnSpc>
              <a:spcBef>
                <a:spcPts val="0"/>
              </a:spcBef>
              <a:spcAft>
                <a:spcPts val="0"/>
              </a:spcAft>
              <a:defRPr sz="900" b="0">
                <a:solidFill>
                  <a:srgbClr val="52656C"/>
                </a:solidFill>
                <a:latin typeface="Arial"/>
              </a:defRPr>
            </a:pPr>
            <a:r>
              <a:t>FORGE  /  UNILEVER PROJECT</a:t>
            </a:r>
          </a:p>
        </p:txBody>
      </p:sp>
      <p:sp>
        <p:nvSpPr>
          <p:cNvPr id="7" name="TextBox 6"/>
          <p:cNvSpPr txBox="1"/>
          <p:nvPr/>
        </p:nvSpPr>
        <p:spPr>
          <a:xfrm>
            <a:off x="11328400" y="6413500"/>
            <a:ext cx="444500" cy="266700"/>
          </a:xfrm>
          <a:prstGeom prst="rect">
            <a:avLst/>
          </a:prstGeom>
          <a:noFill/>
        </p:spPr>
        <p:txBody>
          <a:bodyPr wrap="square" lIns="0" tIns="0" rIns="0" bIns="0">
            <a:spAutoFit/>
          </a:bodyPr>
          <a:lstStyle/>
          <a:p>
            <a:pPr>
              <a:lnSpc>
                <a:spcPct val="115000"/>
              </a:lnSpc>
              <a:spcBef>
                <a:spcPts val="0"/>
              </a:spcBef>
              <a:spcAft>
                <a:spcPts val="0"/>
              </a:spcAft>
              <a:defRPr sz="1200" b="1">
                <a:solidFill>
                  <a:srgbClr val="007E80"/>
                </a:solidFill>
                <a:latin typeface="Arial"/>
              </a:defRPr>
            </a:pPr>
            <a:r>
              <a:t>03</a:t>
            </a:r>
          </a:p>
        </p:txBody>
      </p:sp>
      <p:graphicFrame>
        <p:nvGraphicFramePr>
          <p:cNvPr id="8" name="Table 7"/>
          <p:cNvGraphicFramePr>
            <a:graphicFrameLocks noGrp="1"/>
          </p:cNvGraphicFramePr>
          <p:nvPr>
            <p:extLst>
              <p:ext uri="{D42A27DB-BD31-4B8C-83A1-F6EECF244321}">
                <p14:modId xmlns:p14="http://schemas.microsoft.com/office/powerpoint/2010/main" val="121595634"/>
              </p:ext>
            </p:extLst>
          </p:nvPr>
        </p:nvGraphicFramePr>
        <p:xfrm>
          <a:off x="534000" y="1500000"/>
          <a:ext cx="11125200" cy="4303050"/>
        </p:xfrm>
        <a:graphic>
          <a:graphicData uri="http://schemas.openxmlformats.org/drawingml/2006/table">
            <a:tbl>
              <a:tblPr firstRow="1" bandRow="1">
                <a:tableStyleId>{5C22544A-7EE6-4342-B048-85BDC9FD1C3A}</a:tableStyleId>
              </a:tblPr>
              <a:tblGrid>
                <a:gridCol w="4381500">
                  <a:extLst>
                    <a:ext uri="{9D8B030D-6E8A-4147-A177-3AD203B41FA5}">
                      <a16:colId xmlns:a16="http://schemas.microsoft.com/office/drawing/2014/main" val="20000"/>
                    </a:ext>
                  </a:extLst>
                </a:gridCol>
                <a:gridCol w="2603500">
                  <a:extLst>
                    <a:ext uri="{9D8B030D-6E8A-4147-A177-3AD203B41FA5}">
                      <a16:colId xmlns:a16="http://schemas.microsoft.com/office/drawing/2014/main" val="20001"/>
                    </a:ext>
                  </a:extLst>
                </a:gridCol>
                <a:gridCol w="4140200">
                  <a:extLst>
                    <a:ext uri="{9D8B030D-6E8A-4147-A177-3AD203B41FA5}">
                      <a16:colId xmlns:a16="http://schemas.microsoft.com/office/drawing/2014/main" val="20002"/>
                    </a:ext>
                  </a:extLst>
                </a:gridCol>
              </a:tblGrid>
              <a:tr h="394119">
                <a:tc>
                  <a:txBody>
                    <a:bodyPr/>
                    <a:lstStyle/>
                    <a:p>
                      <a:pPr>
                        <a:defRPr sz="1300" b="1">
                          <a:solidFill>
                            <a:srgbClr val="FFFFFF"/>
                          </a:solidFill>
                          <a:latin typeface="Arial"/>
                        </a:defRPr>
                      </a:pPr>
                      <a:r>
                        <a:t>Task</a:t>
                      </a:r>
                    </a:p>
                  </a:txBody>
                  <a:tcPr marL="152400" marR="101600" marT="139700" marB="63500">
                    <a:solidFill>
                      <a:srgbClr val="102B36"/>
                    </a:solidFill>
                  </a:tcPr>
                </a:tc>
                <a:tc>
                  <a:txBody>
                    <a:bodyPr/>
                    <a:lstStyle/>
                    <a:p>
                      <a:pPr>
                        <a:defRPr sz="1300" b="1">
                          <a:solidFill>
                            <a:srgbClr val="FFFFFF"/>
                          </a:solidFill>
                          <a:latin typeface="Arial"/>
                        </a:defRPr>
                      </a:pPr>
                      <a:r>
                        <a:t>Proposed lead(s)</a:t>
                      </a:r>
                    </a:p>
                  </a:txBody>
                  <a:tcPr marL="152400" marR="101600" marT="139700" marB="63500">
                    <a:solidFill>
                      <a:srgbClr val="102B36"/>
                    </a:solidFill>
                  </a:tcPr>
                </a:tc>
                <a:tc>
                  <a:txBody>
                    <a:bodyPr/>
                    <a:lstStyle/>
                    <a:p>
                      <a:pPr>
                        <a:defRPr sz="1300" b="1">
                          <a:solidFill>
                            <a:srgbClr val="FFFFFF"/>
                          </a:solidFill>
                          <a:latin typeface="Arial"/>
                        </a:defRPr>
                      </a:pPr>
                      <a:r>
                        <a:t>Deliverable</a:t>
                      </a:r>
                    </a:p>
                  </a:txBody>
                  <a:tcPr marL="152400" marR="101600" marT="139700" marB="63500">
                    <a:solidFill>
                      <a:srgbClr val="102B36"/>
                    </a:solidFill>
                  </a:tcPr>
                </a:tc>
                <a:extLst>
                  <a:ext uri="{0D108BD9-81ED-4DB2-BD59-A6C34878D82A}">
                    <a16:rowId xmlns:a16="http://schemas.microsoft.com/office/drawing/2014/main" val="10000"/>
                  </a:ext>
                </a:extLst>
              </a:tr>
              <a:tr h="541915">
                <a:tc>
                  <a:txBody>
                    <a:bodyPr/>
                    <a:lstStyle/>
                    <a:p>
                      <a:pPr>
                        <a:defRPr sz="1300" b="0">
                          <a:solidFill>
                            <a:srgbClr val="102B36"/>
                          </a:solidFill>
                          <a:latin typeface="Arial"/>
                        </a:defRPr>
                      </a:pPr>
                      <a:r>
                        <a:t>Build the pipeline</a:t>
                      </a:r>
                    </a:p>
                  </a:txBody>
                  <a:tcPr marL="152400" marR="101600" marT="190500" marB="63500">
                    <a:solidFill>
                      <a:schemeClr val="accent1">
                        <a:lumMod val="20000"/>
                        <a:lumOff val="80000"/>
                      </a:schemeClr>
                    </a:solidFill>
                  </a:tcPr>
                </a:tc>
                <a:tc>
                  <a:txBody>
                    <a:bodyPr/>
                    <a:lstStyle/>
                    <a:p>
                      <a:pPr lvl="0">
                        <a:buNone/>
                      </a:pPr>
                      <a:r>
                        <a:rPr lang="en-US" sz="1300"/>
                        <a:t>Arut + Adelaide</a:t>
                      </a:r>
                      <a:endParaRPr/>
                    </a:p>
                  </a:txBody>
                  <a:tcPr marL="152400" marR="101600" marT="190500" marB="63500">
                    <a:solidFill>
                      <a:schemeClr val="accent1">
                        <a:lumMod val="20000"/>
                        <a:lumOff val="80000"/>
                      </a:schemeClr>
                    </a:solidFill>
                  </a:tcPr>
                </a:tc>
                <a:tc>
                  <a:txBody>
                    <a:bodyPr/>
                    <a:lstStyle/>
                    <a:p>
                      <a:pPr>
                        <a:defRPr sz="1300" b="0">
                          <a:solidFill>
                            <a:srgbClr val="102B36"/>
                          </a:solidFill>
                          <a:latin typeface="Arial"/>
                        </a:defRPr>
                      </a:pPr>
                      <a:r>
                        <a:t>Working paper-to-code workflow</a:t>
                      </a:r>
                    </a:p>
                  </a:txBody>
                  <a:tcPr marL="152400" marR="101600" marT="190500" marB="63500">
                    <a:solidFill>
                      <a:schemeClr val="accent1">
                        <a:lumMod val="20000"/>
                        <a:lumOff val="80000"/>
                      </a:schemeClr>
                    </a:solidFill>
                  </a:tcPr>
                </a:tc>
                <a:extLst>
                  <a:ext uri="{0D108BD9-81ED-4DB2-BD59-A6C34878D82A}">
                    <a16:rowId xmlns:a16="http://schemas.microsoft.com/office/drawing/2014/main" val="10001"/>
                  </a:ext>
                </a:extLst>
              </a:tr>
              <a:tr h="541915">
                <a:tc>
                  <a:txBody>
                    <a:bodyPr/>
                    <a:lstStyle/>
                    <a:p>
                      <a:pPr lvl="0">
                        <a:buNone/>
                      </a:pPr>
                      <a:r>
                        <a:rPr sz="1300" dirty="0"/>
                        <a:t>Run experiments across </a:t>
                      </a:r>
                      <a:r>
                        <a:rPr lang="en-US" sz="1300"/>
                        <a:t>15 </a:t>
                      </a:r>
                      <a:r>
                        <a:rPr sz="1300"/>
                        <a:t>papers</a:t>
                      </a:r>
                      <a:r>
                        <a:rPr lang="en-US" sz="1300"/>
                        <a:t> (half)</a:t>
                      </a:r>
                      <a:endParaRPr sz="1300" dirty="0"/>
                    </a:p>
                  </a:txBody>
                  <a:tcPr marL="152400" marR="101600" marT="190500" marB="63500">
                    <a:solidFill>
                      <a:schemeClr val="accent3">
                        <a:lumMod val="20000"/>
                        <a:lumOff val="80000"/>
                      </a:schemeClr>
                    </a:solidFill>
                  </a:tcPr>
                </a:tc>
                <a:tc>
                  <a:txBody>
                    <a:bodyPr/>
                    <a:lstStyle/>
                    <a:p>
                      <a:pPr lvl="0">
                        <a:buNone/>
                        <a:defRPr sz="1300" b="0">
                          <a:solidFill>
                            <a:srgbClr val="102B36"/>
                          </a:solidFill>
                          <a:latin typeface="Arial"/>
                        </a:defRPr>
                      </a:pPr>
                      <a:r>
                        <a:rPr sz="1300"/>
                        <a:t>All four teammates</a:t>
                      </a:r>
                    </a:p>
                  </a:txBody>
                  <a:tcPr marL="152400" marR="101600" marT="190500" marB="63500">
                    <a:solidFill>
                      <a:schemeClr val="accent3">
                        <a:lumMod val="20000"/>
                        <a:lumOff val="80000"/>
                      </a:schemeClr>
                    </a:solidFill>
                  </a:tcPr>
                </a:tc>
                <a:tc>
                  <a:txBody>
                    <a:bodyPr/>
                    <a:lstStyle/>
                    <a:p>
                      <a:pPr lvl="0">
                        <a:buNone/>
                      </a:pPr>
                      <a:r>
                        <a:rPr sz="1300" dirty="0"/>
                        <a:t>Results table + </a:t>
                      </a:r>
                      <a:r>
                        <a:rPr lang="en-US" sz="1300"/>
                        <a:t>pain points</a:t>
                      </a:r>
                      <a:endParaRPr/>
                    </a:p>
                  </a:txBody>
                  <a:tcPr marL="152400" marR="101600" marT="190500" marB="63500">
                    <a:solidFill>
                      <a:schemeClr val="accent3">
                        <a:lumMod val="20000"/>
                        <a:lumOff val="80000"/>
                      </a:schemeClr>
                    </a:solidFill>
                  </a:tcPr>
                </a:tc>
                <a:extLst>
                  <a:ext uri="{0D108BD9-81ED-4DB2-BD59-A6C34878D82A}">
                    <a16:rowId xmlns:a16="http://schemas.microsoft.com/office/drawing/2014/main" val="10003"/>
                  </a:ext>
                </a:extLst>
              </a:tr>
              <a:tr h="615812">
                <a:tc>
                  <a:txBody>
                    <a:bodyPr/>
                    <a:lstStyle/>
                    <a:p>
                      <a:pPr lvl="0">
                        <a:buNone/>
                      </a:pPr>
                      <a:r>
                        <a:rPr lang="en-US" sz="1300"/>
                        <a:t>Improve pipeline (if needed)</a:t>
                      </a:r>
                      <a:endParaRPr sz="1300" dirty="0"/>
                    </a:p>
                  </a:txBody>
                  <a:tcPr marL="152399" marR="101599" marT="190500" marB="63500">
                    <a:solidFill>
                      <a:schemeClr val="accent1">
                        <a:lumMod val="20000"/>
                        <a:lumOff val="80000"/>
                      </a:schemeClr>
                    </a:solidFill>
                  </a:tcPr>
                </a:tc>
                <a:tc>
                  <a:txBody>
                    <a:bodyPr/>
                    <a:lstStyle/>
                    <a:p>
                      <a:pPr lvl="0">
                        <a:buNone/>
                      </a:pPr>
                      <a:r>
                        <a:rPr lang="en-US" sz="1300"/>
                        <a:t>Anna + Owen</a:t>
                      </a:r>
                      <a:endParaRPr sz="1300" dirty="0"/>
                    </a:p>
                  </a:txBody>
                  <a:tcPr marL="152399" marR="101599" marT="190500" marB="63500">
                    <a:solidFill>
                      <a:schemeClr val="accent1">
                        <a:lumMod val="20000"/>
                        <a:lumOff val="80000"/>
                      </a:schemeClr>
                    </a:solidFill>
                  </a:tcPr>
                </a:tc>
                <a:tc>
                  <a:txBody>
                    <a:bodyPr/>
                    <a:lstStyle/>
                    <a:p>
                      <a:pPr lvl="0" algn="l">
                        <a:lnSpc>
                          <a:spcPct val="100000"/>
                        </a:lnSpc>
                        <a:spcBef>
                          <a:spcPts val="0"/>
                        </a:spcBef>
                        <a:spcAft>
                          <a:spcPts val="0"/>
                        </a:spcAft>
                        <a:buNone/>
                      </a:pPr>
                      <a:r>
                        <a:rPr lang="en-US" sz="1300" b="0" i="0" u="none" strike="noStrike" noProof="0">
                          <a:solidFill>
                            <a:srgbClr val="000000"/>
                          </a:solidFill>
                          <a:latin typeface="Calibri"/>
                          <a:ea typeface="Calibri"/>
                          <a:cs typeface="Calibri"/>
                        </a:rPr>
                        <a:t>Improved paper-to-code workflow</a:t>
                      </a:r>
                    </a:p>
                    <a:p>
                      <a:pPr lvl="0">
                        <a:buNone/>
                      </a:pPr>
                      <a:endParaRPr sz="1300" dirty="0"/>
                    </a:p>
                  </a:txBody>
                  <a:tcPr marL="152399" marR="101599" marT="190500" marB="63500">
                    <a:solidFill>
                      <a:schemeClr val="accent1">
                        <a:lumMod val="20000"/>
                        <a:lumOff val="80000"/>
                      </a:schemeClr>
                    </a:solidFill>
                  </a:tcPr>
                </a:tc>
                <a:extLst>
                  <a:ext uri="{0D108BD9-81ED-4DB2-BD59-A6C34878D82A}">
                    <a16:rowId xmlns:a16="http://schemas.microsoft.com/office/drawing/2014/main" val="4040966927"/>
                  </a:ext>
                </a:extLst>
              </a:tr>
              <a:tr h="541915">
                <a:tc>
                  <a:txBody>
                    <a:bodyPr/>
                    <a:lstStyle/>
                    <a:p>
                      <a:pPr lvl="0">
                        <a:buNone/>
                      </a:pPr>
                      <a:r>
                        <a:rPr lang="en-US" sz="1300"/>
                        <a:t>Run experiments across 30 papers (all)</a:t>
                      </a:r>
                      <a:endParaRPr sz="1300" dirty="0"/>
                    </a:p>
                  </a:txBody>
                  <a:tcPr marL="152400" marR="101600" marT="190500" marB="63500">
                    <a:solidFill>
                      <a:schemeClr val="accent3">
                        <a:lumMod val="20000"/>
                        <a:lumOff val="80000"/>
                      </a:schemeClr>
                    </a:solidFill>
                  </a:tcPr>
                </a:tc>
                <a:tc>
                  <a:txBody>
                    <a:bodyPr/>
                    <a:lstStyle/>
                    <a:p>
                      <a:pPr lvl="0">
                        <a:buNone/>
                      </a:pPr>
                      <a:r>
                        <a:rPr lang="en-US" sz="1300"/>
                        <a:t>All four teammates</a:t>
                      </a:r>
                      <a:endParaRPr/>
                    </a:p>
                  </a:txBody>
                  <a:tcPr marL="152400" marR="101600" marT="190500" marB="63500">
                    <a:solidFill>
                      <a:schemeClr val="accent3">
                        <a:lumMod val="20000"/>
                        <a:lumOff val="80000"/>
                      </a:schemeClr>
                    </a:solidFill>
                  </a:tcPr>
                </a:tc>
                <a:tc>
                  <a:txBody>
                    <a:bodyPr/>
                    <a:lstStyle/>
                    <a:p>
                      <a:pPr lvl="0">
                        <a:buNone/>
                      </a:pPr>
                      <a:r>
                        <a:rPr lang="en-US" sz="1300" dirty="0"/>
                        <a:t>Results table + </a:t>
                      </a:r>
                      <a:r>
                        <a:rPr lang="en-US" sz="1300"/>
                        <a:t>implementation</a:t>
                      </a:r>
                      <a:r>
                        <a:rPr lang="en-US" sz="1300" dirty="0"/>
                        <a:t> logs</a:t>
                      </a:r>
                      <a:endParaRPr sz="1300" dirty="0"/>
                    </a:p>
                  </a:txBody>
                  <a:tcPr marL="152400" marR="101600" marT="190500" marB="63500">
                    <a:solidFill>
                      <a:schemeClr val="accent3">
                        <a:lumMod val="20000"/>
                        <a:lumOff val="80000"/>
                      </a:schemeClr>
                    </a:solidFill>
                  </a:tcPr>
                </a:tc>
                <a:extLst>
                  <a:ext uri="{0D108BD9-81ED-4DB2-BD59-A6C34878D82A}">
                    <a16:rowId xmlns:a16="http://schemas.microsoft.com/office/drawing/2014/main" val="954463810"/>
                  </a:ext>
                </a:extLst>
              </a:tr>
              <a:tr h="541915">
                <a:tc>
                  <a:txBody>
                    <a:bodyPr/>
                    <a:lstStyle/>
                    <a:p>
                      <a:pPr lvl="0">
                        <a:buNone/>
                      </a:pPr>
                      <a:r>
                        <a:rPr lang="en-US" sz="1300" b="0" i="0" u="none" strike="noStrike" noProof="0">
                          <a:latin typeface="Calibri"/>
                          <a:ea typeface="Calibri"/>
                          <a:cs typeface="Calibri"/>
                        </a:rPr>
                        <a:t>Qualitative evaluation per paper</a:t>
                      </a:r>
                      <a:r>
                        <a:rPr lang="en-US" sz="1300" b="0" i="0" u="none" strike="noStrike" noProof="0" dirty="0">
                          <a:latin typeface="Calibri"/>
                          <a:ea typeface="Calibri"/>
                          <a:cs typeface="Calibri"/>
                        </a:rPr>
                        <a:t> </a:t>
                      </a:r>
                      <a:endParaRPr b="0" dirty="0"/>
                    </a:p>
                  </a:txBody>
                  <a:tcPr marL="152399" marR="101599" marT="190500" marB="63500">
                    <a:solidFill>
                      <a:schemeClr val="accent6">
                        <a:lumMod val="20000"/>
                        <a:lumOff val="80000"/>
                      </a:schemeClr>
                    </a:solidFill>
                  </a:tcPr>
                </a:tc>
                <a:tc>
                  <a:txBody>
                    <a:bodyPr/>
                    <a:lstStyle/>
                    <a:p>
                      <a:pPr lvl="0">
                        <a:buNone/>
                      </a:pPr>
                      <a:r>
                        <a:rPr lang="en-US" sz="1300" b="0" i="0" u="none" strike="noStrike" noProof="0">
                          <a:latin typeface="Calibri"/>
                          <a:ea typeface="Calibri"/>
                          <a:cs typeface="Calibri"/>
                        </a:rPr>
                        <a:t>All four teammates</a:t>
                      </a:r>
                      <a:endParaRPr/>
                    </a:p>
                  </a:txBody>
                  <a:tcPr marL="152399" marR="101599" marT="190500" marB="63500">
                    <a:solidFill>
                      <a:schemeClr val="accent6">
                        <a:lumMod val="20000"/>
                        <a:lumOff val="80000"/>
                      </a:schemeClr>
                    </a:solidFill>
                  </a:tcPr>
                </a:tc>
                <a:tc>
                  <a:txBody>
                    <a:bodyPr/>
                    <a:lstStyle/>
                    <a:p>
                      <a:pPr lvl="0">
                        <a:buNone/>
                      </a:pPr>
                      <a:r>
                        <a:rPr lang="en-US" sz="1300" b="0" i="0" u="none" strike="noStrike" noProof="0">
                          <a:latin typeface="Calibri"/>
                          <a:ea typeface="Calibri"/>
                          <a:cs typeface="Calibri"/>
                        </a:rPr>
                        <a:t>Code quality + method fidelity assessments</a:t>
                      </a:r>
                      <a:endParaRPr/>
                    </a:p>
                  </a:txBody>
                  <a:tcPr marL="152399" marR="101599" marT="190500" marB="63500">
                    <a:solidFill>
                      <a:schemeClr val="accent6">
                        <a:lumMod val="20000"/>
                        <a:lumOff val="80000"/>
                      </a:schemeClr>
                    </a:solidFill>
                  </a:tcPr>
                </a:tc>
                <a:extLst>
                  <a:ext uri="{0D108BD9-81ED-4DB2-BD59-A6C34878D82A}">
                    <a16:rowId xmlns:a16="http://schemas.microsoft.com/office/drawing/2014/main" val="3119897104"/>
                  </a:ext>
                </a:extLst>
              </a:tr>
              <a:tr h="541915">
                <a:tc>
                  <a:txBody>
                    <a:bodyPr/>
                    <a:lstStyle/>
                    <a:p>
                      <a:r>
                        <a:rPr sz="1300"/>
                        <a:t>Analyze success / failure patterns</a:t>
                      </a:r>
                      <a:r>
                        <a:rPr lang="en-US" sz="1300" dirty="0"/>
                        <a:t> </a:t>
                      </a:r>
                      <a:endParaRPr dirty="0"/>
                    </a:p>
                  </a:txBody>
                  <a:tcPr marL="152400" marR="101600" marT="190500" marB="63500">
                    <a:solidFill>
                      <a:schemeClr val="accent6">
                        <a:lumMod val="20000"/>
                        <a:lumOff val="80000"/>
                      </a:schemeClr>
                    </a:solidFill>
                  </a:tcPr>
                </a:tc>
                <a:tc>
                  <a:txBody>
                    <a:bodyPr/>
                    <a:lstStyle/>
                    <a:p>
                      <a:pPr lvl="0">
                        <a:buNone/>
                      </a:pPr>
                      <a:r>
                        <a:rPr lang="en-US" sz="1300" dirty="0"/>
                        <a:t>All four te</a:t>
                      </a:r>
                      <a:r>
                        <a:rPr lang="en-US" sz="1300"/>
                        <a:t>ammates</a:t>
                      </a:r>
                      <a:endParaRPr/>
                    </a:p>
                  </a:txBody>
                  <a:tcPr marL="152400" marR="101600" marT="190500" marB="63500">
                    <a:solidFill>
                      <a:schemeClr val="accent6">
                        <a:lumMod val="20000"/>
                        <a:lumOff val="80000"/>
                      </a:schemeClr>
                    </a:solidFill>
                  </a:tcPr>
                </a:tc>
                <a:tc>
                  <a:txBody>
                    <a:bodyPr/>
                    <a:lstStyle/>
                    <a:p>
                      <a:pPr>
                        <a:defRPr sz="1300" b="0">
                          <a:solidFill>
                            <a:srgbClr val="102B36"/>
                          </a:solidFill>
                          <a:latin typeface="Arial"/>
                        </a:defRPr>
                      </a:pPr>
                      <a:r>
                        <a:t>Patterns across paper types</a:t>
                      </a:r>
                    </a:p>
                  </a:txBody>
                  <a:tcPr marL="152400" marR="101600" marT="190500" marB="63500">
                    <a:solidFill>
                      <a:schemeClr val="accent6">
                        <a:lumMod val="20000"/>
                        <a:lumOff val="80000"/>
                      </a:schemeClr>
                    </a:solidFill>
                  </a:tcPr>
                </a:tc>
                <a:extLst>
                  <a:ext uri="{0D108BD9-81ED-4DB2-BD59-A6C34878D82A}">
                    <a16:rowId xmlns:a16="http://schemas.microsoft.com/office/drawing/2014/main" val="10004"/>
                  </a:ext>
                </a:extLst>
              </a:tr>
              <a:tr h="541915">
                <a:tc>
                  <a:txBody>
                    <a:bodyPr/>
                    <a:lstStyle/>
                    <a:p>
                      <a:pPr>
                        <a:defRPr sz="1300" b="0">
                          <a:solidFill>
                            <a:srgbClr val="102B36"/>
                          </a:solidFill>
                          <a:latin typeface="Arial"/>
                        </a:defRPr>
                      </a:pPr>
                      <a:r>
                        <a:t>Write the summary report</a:t>
                      </a:r>
                    </a:p>
                  </a:txBody>
                  <a:tcPr marL="152400" marR="101600" marT="190500" marB="63500">
                    <a:solidFill>
                      <a:schemeClr val="accent6">
                        <a:lumMod val="20000"/>
                        <a:lumOff val="80000"/>
                      </a:schemeClr>
                    </a:solidFill>
                  </a:tcPr>
                </a:tc>
                <a:tc>
                  <a:txBody>
                    <a:bodyPr/>
                    <a:lstStyle/>
                    <a:p>
                      <a:pPr lvl="0">
                        <a:buNone/>
                      </a:pPr>
                      <a:r>
                        <a:rPr lang="en-US" sz="1300"/>
                        <a:t>All four teammates</a:t>
                      </a:r>
                      <a:endParaRPr/>
                    </a:p>
                  </a:txBody>
                  <a:tcPr marL="152400" marR="101600" marT="190500" marB="63500">
                    <a:solidFill>
                      <a:schemeClr val="accent6">
                        <a:lumMod val="20000"/>
                        <a:lumOff val="80000"/>
                      </a:schemeClr>
                    </a:solidFill>
                  </a:tcPr>
                </a:tc>
                <a:tc>
                  <a:txBody>
                    <a:bodyPr/>
                    <a:lstStyle/>
                    <a:p>
                      <a:pPr>
                        <a:defRPr sz="1300" b="0">
                          <a:solidFill>
                            <a:srgbClr val="102B36"/>
                          </a:solidFill>
                          <a:latin typeface="Arial"/>
                        </a:defRPr>
                      </a:pPr>
                      <a:r>
                        <a:rPr sz="1300"/>
                        <a:t>Findings </a:t>
                      </a:r>
                    </a:p>
                  </a:txBody>
                  <a:tcPr marL="152400" marR="101600" marT="190500" marB="63500">
                    <a:solidFill>
                      <a:schemeClr val="accent6">
                        <a:lumMod val="20000"/>
                        <a:lumOff val="80000"/>
                      </a:schemeClr>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557400" y="5991200"/>
            <a:ext cx="11125200" cy="279400"/>
          </a:xfrm>
          <a:prstGeom prst="rect">
            <a:avLst/>
          </a:prstGeom>
          <a:noFill/>
        </p:spPr>
        <p:txBody>
          <a:bodyPr wrap="square" lIns="0" tIns="0" rIns="0" bIns="0">
            <a:spAutoFit/>
          </a:bodyPr>
          <a:lstStyle/>
          <a:p>
            <a:pPr>
              <a:lnSpc>
                <a:spcPct val="115000"/>
              </a:lnSpc>
              <a:spcBef>
                <a:spcPts val="0"/>
              </a:spcBef>
              <a:spcAft>
                <a:spcPts val="0"/>
              </a:spcAft>
              <a:defRPr sz="1400" b="1">
                <a:solidFill>
                  <a:srgbClr val="007E80"/>
                </a:solidFill>
                <a:latin typeface="Arial"/>
              </a:defRPr>
            </a:pPr>
            <a:r>
              <a:t>Every two weeks: present a concrete deliverable to the Unilever project lead.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3</Slides>
  <Notes>3</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179</cp:revision>
  <dcterms:created xsi:type="dcterms:W3CDTF">2013-01-27T09:14:16Z</dcterms:created>
  <dcterms:modified xsi:type="dcterms:W3CDTF">2026-10-20T18:26:34Z</dcterms:modified>
  <cp:category/>
</cp:coreProperties>
</file>